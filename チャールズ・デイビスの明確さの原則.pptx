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37160" cy="1920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A0C0"/>
                </a:solidFill>
                <a:latin typeface="Noto Sans CJK JP"/>
              </a:rPr>
              <a:t>ミニ講座  ／ 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D0D8F0"/>
                </a:solidFill>
                <a:latin typeface="Noto Sans CJK JP"/>
              </a:rPr>
              <a:t>チャールズ・デイビスの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Noto Sans CJK JP"/>
              </a:rPr>
              <a:t>明確さの原則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A623"/>
                </a:solidFill>
                <a:latin typeface="Noto Sans CJK JP"/>
              </a:rPr>
              <a:t>Principle of Clarity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A0C0"/>
                </a:solidFill>
                <a:latin typeface="Noto Sans CJK JP"/>
              </a:rPr>
              <a:t>Charles Davis  ·  Bristol, UK
https://medium.com/@charlesdavies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JP"/>
              </a:rPr>
              <a:t>本日の流れ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188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チャールズ・デイビスとは？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92224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3794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8366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ソース原理とは？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87168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3288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78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レスポンシビリティーの正体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82112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2783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735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明確さの原則とは？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77056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227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6849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痛みとモヤモヤの正体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17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663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2つの相反する行動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66944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1266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35838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まとめ・実践へ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37160" cy="67848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Noto Sans CJK JP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JP"/>
              </a:rPr>
              <a:t>チャールズ・デイビスとは？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7432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Noto Sans CJK JP"/>
              </a:rPr>
              <a:t>👤  Charles Davis（チャールズ・デイビス）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🏙  イギリス・ブリストル在住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600" b="0">
                <a:solidFill>
                  <a:srgbClr val="90A0C0"/>
                </a:solidFill>
                <a:latin typeface="Noto Sans CJK JP"/>
              </a:rPr>
              <a:t>📝  Medium :  https://medium.com/@charlesdavies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💡  「明確さの原則（Principle of Clarity）」の提唱者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🤝  ソース原理の提唱者ピーター・カーニックとともに、
    ソース原理を体系化したキーパーソン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37160" cy="67848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Noto Sans CJK JP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JP"/>
              </a:rPr>
              <a:t>ソース原理とは？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286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3949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09728" cy="4389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A623"/>
                </a:solidFill>
                <a:latin typeface="Noto Sans CJK JP"/>
              </a:rPr>
              <a:t>ソース原理（Source Principle）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700" b="0">
                <a:solidFill>
                  <a:srgbClr val="D0D8F0"/>
                </a:solidFill>
                <a:latin typeface="Noto Sans CJK JP"/>
              </a:rPr>
              <a:t>Peter Koenig（ピーター・カーニック）が
提唱した原理。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700" b="0">
                <a:solidFill>
                  <a:srgbClr val="D0D8F0"/>
                </a:solidFill>
                <a:latin typeface="Noto Sans CJK JP"/>
              </a:rPr>
              <a:t>あらゆる取り組みには「ソース」と呼ばれる
起点となる人物が存在し、その人が
エネルギーと方向性を生み出す。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700" b="0">
                <a:solidFill>
                  <a:srgbClr val="D0D8F0"/>
                </a:solidFill>
                <a:latin typeface="Noto Sans CJK JP"/>
              </a:rPr>
              <a:t>チャールズはこの原理を
さらに体系化する研究を行った。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76072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63040"/>
            <a:ext cx="109728" cy="4389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A623"/>
                </a:solidFill>
                <a:latin typeface="Noto Sans CJK JP"/>
              </a:rPr>
              <a:t>チャールズの大きな発見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700" b="0">
                <a:solidFill>
                  <a:srgbClr val="D0D8F0"/>
                </a:solidFill>
                <a:latin typeface="Noto Sans CJK JP"/>
              </a:rPr>
              <a:t>人が何かを始めようとする時、
そこには必ず——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2200" b="1">
                <a:solidFill>
                  <a:srgbClr val="FFFFFF"/>
                </a:solidFill>
                <a:latin typeface="Noto Sans CJK JP"/>
              </a:rPr>
              <a:t>「レスポンシビリティー」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700" b="0">
                <a:solidFill>
                  <a:srgbClr val="D0D8F0"/>
                </a:solidFill>
                <a:latin typeface="Noto Sans CJK JP"/>
              </a:rPr>
              <a:t>——を感じている、という気づき。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700" b="0">
                <a:solidFill>
                  <a:srgbClr val="90A0C0"/>
                </a:solidFill>
                <a:latin typeface="Noto Sans CJK JP"/>
              </a:rPr>
              <a:t>この発見がすべての出発点。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37160" cy="67848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Noto Sans CJK JP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JP"/>
              </a:rPr>
              <a:t>レスポンシビリティーの正体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2004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00584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09728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F37"/>
                </a:solidFill>
                <a:latin typeface="Noto Sans CJK JP"/>
              </a:rPr>
              <a:t>❌  単なる「説明責任（accountability）」ではない！</a:t>
            </a:r>
          </a:p>
          <a:p>
            <a:pPr algn="l"/>
            <a:r>
              <a:rPr sz="1700" b="0">
                <a:solidFill>
                  <a:srgbClr val="D0D8F0"/>
                </a:solidFill>
                <a:latin typeface="Noto Sans CJK JP"/>
              </a:rPr>
              <a:t>    レスポンシビリティーとは——筋肉が「レスポンス（反応）」してしまう、身体的な感覚のこと。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51760"/>
            <a:ext cx="1152144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109728" cy="3200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A623"/>
                </a:solidFill>
                <a:latin typeface="Noto Sans CJK JP"/>
              </a:rPr>
              <a:t>🔥  体験ワーク  ——  想像してみてください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800" b="0">
                <a:solidFill>
                  <a:srgbClr val="D0D8F0"/>
                </a:solidFill>
                <a:latin typeface="Noto Sans CJK JP"/>
              </a:rPr>
              <a:t>キッチンで火をつけて料理をしている最中に……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Noto Sans CJK JP"/>
              </a:rPr>
              <a:t>「火はつけっぱなしのまま、今すぐ電車に乗って出かけてください」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800" b="0">
                <a:solidFill>
                  <a:srgbClr val="D0D8F0"/>
                </a:solidFill>
                <a:latin typeface="Noto Sans CJK JP"/>
              </a:rPr>
              <a:t>そう言われたら、どんな身体感覚がありますか？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700" b="0">
                <a:solidFill>
                  <a:srgbClr val="D0D8F0"/>
                </a:solidFill>
                <a:latin typeface="Noto Sans CJK JP"/>
              </a:rPr>
              <a:t>👉  ソワソワ、落ち着かない……  その筋肉レベルの感覚こそが</a:t>
            </a:r>
          </a:p>
          <a:p>
            <a:pPr algn="l"/>
            <a:r>
              <a:rPr sz="2000" b="1">
                <a:solidFill>
                  <a:srgbClr val="F5A623"/>
                </a:solidFill>
                <a:latin typeface="Noto Sans CJK JP"/>
              </a:rPr>
              <a:t>    「レスポンシビリティー」の正体です。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37160" cy="67848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Noto Sans CJK JP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JP"/>
              </a:rPr>
              <a:t>明確さの原則とは？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56032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11521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0A0C0"/>
                </a:solidFill>
                <a:latin typeface="Noto Sans CJK JP"/>
              </a:rPr>
              <a:t>レスポンシビリティーを感じていても……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2200" b="0">
                <a:solidFill>
                  <a:srgbClr val="D0D8F0"/>
                </a:solidFill>
                <a:latin typeface="Noto Sans CJK JP"/>
              </a:rPr>
              <a:t>「何に対して」レスポンシビリティーを感じているのかが
分からなければ、意味がない。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3200400"/>
            <a:ext cx="64008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3200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JP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49039"/>
            <a:ext cx="1152144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109728" cy="2468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Noto Sans CJK JP"/>
              </a:rPr>
              <a:t>✨  明確さの原則（Principle of Clarity）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900" b="0">
                <a:solidFill>
                  <a:srgbClr val="D0D8F0"/>
                </a:solidFill>
                <a:latin typeface="Noto Sans CJK JP"/>
              </a:rPr>
              <a:t>チャールズが発明した「レスポンシビリティーを明確にするためのワーク」。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900" b="0">
                <a:solidFill>
                  <a:srgbClr val="D0D8F0"/>
                </a:solidFill>
                <a:latin typeface="Noto Sans CJK JP"/>
              </a:rPr>
              <a:t>自分が何に反応しているのかを言語化・可視化し、
エネルギーを正しい方向へ向けるためのフレームワーク。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400" b="0">
                <a:solidFill>
                  <a:srgbClr val="90A0C0"/>
                </a:solidFill>
                <a:latin typeface="Noto Sans CJK JP"/>
              </a:rPr>
              <a:t>詳細 ▶  https://note.com/aonohideaki/n/n3310f5e50256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37160" cy="67848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Noto Sans CJK JP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JP"/>
              </a:rPr>
              <a:t>痛みとモヤモヤの正体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56032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11521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0A0C0"/>
                </a:solidFill>
                <a:latin typeface="Noto Sans CJK JP"/>
              </a:rPr>
              <a:t>チャールズのさらなる発見——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2200" b="1">
                <a:solidFill>
                  <a:srgbClr val="FFFFFF"/>
                </a:solidFill>
                <a:latin typeface="Noto Sans CJK JP"/>
              </a:rPr>
              <a:t>レスポンシビリティーが発揮されていない時、
人は「痛み（モヤモヤ・不快感）」を感じている。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154680"/>
            <a:ext cx="11521440" cy="91440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154680"/>
            <a:ext cx="109728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A623"/>
                </a:solidFill>
                <a:latin typeface="Noto Sans CJK JP"/>
              </a:rPr>
              <a:t>「やりたいのにやらない」「やりたくないのにやっている」
この2つが、痛みとモヤモヤを生じさせる源泉。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2519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D8F0"/>
                </a:solidFill>
                <a:latin typeface="Noto Sans CJK JP"/>
              </a:rPr>
              <a:t>つまり——レスポンシビリティーと行動が一致しない状態が「痛み」の正体。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983480"/>
            <a:ext cx="1152144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1206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D8F0"/>
                </a:solidFill>
                <a:latin typeface="Noto Sans CJK JP"/>
              </a:rPr>
              <a:t>💡  逆に言えば、明確さの原則でレスポンシビリティーを可視化し、
    行動と一致させることができれば——痛みは消え、力が生まれる。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37160" cy="67848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Noto Sans CJK JP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JP"/>
              </a:rPr>
              <a:t>2つの相反する行動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286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394960" cy="411480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09728" cy="4114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  <a:latin typeface="Noto Sans CJK JP"/>
              </a:rPr>
              <a:t>パターン A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やりたいと思っているのに、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Noto Sans CJK JP"/>
              </a:rPr>
              <a:t>やらない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700" b="0">
                <a:solidFill>
                  <a:srgbClr val="90A0C0"/>
                </a:solidFill>
                <a:latin typeface="Noto Sans CJK JP"/>
              </a:rPr>
              <a:t>例）副業を始めたいと思いながら
　　何ヶ月も先延ばしにしている……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600" b="0">
                <a:solidFill>
                  <a:srgbClr val="D0D8F0"/>
                </a:solidFill>
                <a:latin typeface="Noto Sans CJK JP"/>
              </a:rPr>
              <a:t>→ 内側では「やりたい」という
　 レスポンシビリティーが動いているのに
　 行動が伴っていない状態。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760720" cy="41148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63040"/>
            <a:ext cx="109728" cy="411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Noto Sans CJK JP"/>
              </a:rPr>
              <a:t>パターン B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2000" b="0">
                <a:solidFill>
                  <a:srgbClr val="D0D8F0"/>
                </a:solidFill>
                <a:latin typeface="Noto Sans CJK JP"/>
              </a:rPr>
              <a:t>やりたくないと思っているのに、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Noto Sans CJK JP"/>
              </a:rPr>
              <a:t>やっている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700" b="0">
                <a:solidFill>
                  <a:srgbClr val="90A0C0"/>
                </a:solidFill>
                <a:latin typeface="Noto Sans CJK JP"/>
              </a:rPr>
              <a:t>例）本当はNOと言いたい依頼を
　　断れずに引き受け続けている……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l"/>
            <a:r>
              <a:rPr sz="1600" b="0">
                <a:solidFill>
                  <a:srgbClr val="D0D8F0"/>
                </a:solidFill>
                <a:latin typeface="Noto Sans CJK JP"/>
              </a:rPr>
              <a:t>→ レスポンシビリティーがないことを
　 やり続けることで蓄積される
　 消耗と痛み。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8521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0D8F0"/>
                </a:solidFill>
                <a:latin typeface="Noto Sans CJK JP"/>
              </a:rPr>
              <a:t>この2つは「レスポンシビリティーと行動のズレ」という共通の根を持つ。
明確さの原則は、このズレを解消するための鍵。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37160" cy="67848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Noto Sans CJK JP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JP"/>
              </a:rPr>
              <a:t>まとめ・実践へ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01168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41148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D8F0"/>
                </a:solidFill>
                <a:latin typeface="Noto Sans CJK JP"/>
              </a:rPr>
              <a:t>レスポンシビリティーは「説明責任」ではなく筋肉レベルの身体感覚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21408"/>
            <a:ext cx="41148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1671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D8F0"/>
                </a:solidFill>
                <a:latin typeface="Noto Sans CJK JP"/>
              </a:rPr>
              <a:t>何かを始めようとする時、人は必ずレスポンシビリティーを感じている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79776"/>
            <a:ext cx="41148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8254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52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D8F0"/>
                </a:solidFill>
                <a:latin typeface="Noto Sans CJK JP"/>
              </a:rPr>
              <a:t>「何に対して」感じているかを明確にする必要がある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38144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48386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112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A623"/>
                </a:solidFill>
                <a:latin typeface="Noto Sans CJK JP"/>
              </a:rPr>
              <a:t>明確さの原則はそのための実践的なワーク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96512"/>
            <a:ext cx="41148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14223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6966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D8F0"/>
                </a:solidFill>
                <a:latin typeface="Noto Sans CJK JP"/>
              </a:rPr>
              <a:t>行動とレスポンシビリティーのズレが痛みとモヤモヤを生む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754879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800599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280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A623"/>
                </a:solidFill>
                <a:latin typeface="Noto Sans CJK JP"/>
              </a:rPr>
              <a:t>明確にすることで、エネルギーが解放される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A0C0"/>
                </a:solidFill>
                <a:latin typeface="Noto Sans CJK JP"/>
              </a:rPr>
              <a:t>📖  詳しくは ▶  https://note.com/aonohideaki/n/n3310f5e50256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Noto Sans CJK JP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D0D8F0"/>
                </a:solidFill>
                <a:latin typeface="Noto Sans CJK JP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889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0A0C0"/>
                </a:solidFill>
                <a:latin typeface="Noto Sans CJK JP"/>
              </a:rPr>
              <a:t>Charles Davis  |  Principle of Clarity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 algn="ctr"/>
            <a:r>
              <a:rPr sz="1500" b="0">
                <a:solidFill>
                  <a:srgbClr val="90A0C0"/>
                </a:solidFill>
                <a:latin typeface="Noto Sans CJK JP"/>
              </a:rPr>
              <a:t>https://medium.com/@charlesdavies</a:t>
            </a:r>
          </a:p>
          <a:p>
            <a:pPr algn="ctr"/>
            <a:r>
              <a:rPr sz="1500" b="0">
                <a:solidFill>
                  <a:srgbClr val="90A0C0"/>
                </a:solidFill>
                <a:latin typeface="Noto Sans CJK JP"/>
              </a:rPr>
              <a:t>https://note.com/aonohideaki/n/n3310f5e50256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